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8" r:id="rId10"/>
    <p:sldId id="26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4"/>
  </p:normalViewPr>
  <p:slideViewPr>
    <p:cSldViewPr snapToGrid="0" snapToObjects="1">
      <p:cViewPr varScale="1">
        <p:scale>
          <a:sx n="112" d="100"/>
          <a:sy n="112" d="100"/>
        </p:scale>
        <p:origin x="76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lanos Herrera, Lizeth (Alliance Bioversity-CIAT)" userId="a8728b1c-4e3c-4a52-b5b2-6a2f3579de0d" providerId="ADAL" clId="{859A2CAB-52C0-548B-AF6E-2F741CB5B369}"/>
    <pc:docChg chg="delSld">
      <pc:chgData name="Llanos Herrera, Lizeth (Alliance Bioversity-CIAT)" userId="a8728b1c-4e3c-4a52-b5b2-6a2f3579de0d" providerId="ADAL" clId="{859A2CAB-52C0-548B-AF6E-2F741CB5B369}" dt="2026-07-21T14:50:38.975" v="3" actId="2696"/>
      <pc:docMkLst>
        <pc:docMk/>
      </pc:docMkLst>
      <pc:sldChg chg="del">
        <pc:chgData name="Llanos Herrera, Lizeth (Alliance Bioversity-CIAT)" userId="a8728b1c-4e3c-4a52-b5b2-6a2f3579de0d" providerId="ADAL" clId="{859A2CAB-52C0-548B-AF6E-2F741CB5B369}" dt="2026-07-21T14:50:38.975" v="3" actId="2696"/>
        <pc:sldMkLst>
          <pc:docMk/>
          <pc:sldMk cId="0" sldId="257"/>
        </pc:sldMkLst>
      </pc:sldChg>
      <pc:sldChg chg="del">
        <pc:chgData name="Llanos Herrera, Lizeth (Alliance Bioversity-CIAT)" userId="a8728b1c-4e3c-4a52-b5b2-6a2f3579de0d" providerId="ADAL" clId="{859A2CAB-52C0-548B-AF6E-2F741CB5B369}" dt="2026-07-21T14:50:31.596" v="2" actId="2696"/>
        <pc:sldMkLst>
          <pc:docMk/>
          <pc:sldMk cId="0" sldId="258"/>
        </pc:sldMkLst>
      </pc:sldChg>
      <pc:sldChg chg="del">
        <pc:chgData name="Llanos Herrera, Lizeth (Alliance Bioversity-CIAT)" userId="a8728b1c-4e3c-4a52-b5b2-6a2f3579de0d" providerId="ADAL" clId="{859A2CAB-52C0-548B-AF6E-2F741CB5B369}" dt="2026-07-21T14:49:26.964" v="0" actId="2696"/>
        <pc:sldMkLst>
          <pc:docMk/>
          <pc:sldMk cId="0" sldId="266"/>
        </pc:sldMkLst>
      </pc:sldChg>
      <pc:sldChg chg="del">
        <pc:chgData name="Llanos Herrera, Lizeth (Alliance Bioversity-CIAT)" userId="a8728b1c-4e3c-4a52-b5b2-6a2f3579de0d" providerId="ADAL" clId="{859A2CAB-52C0-548B-AF6E-2F741CB5B369}" dt="2026-07-21T14:50:17.601" v="1" actId="2696"/>
        <pc:sldMkLst>
          <pc:docMk/>
          <pc:sldMk cId="0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Georgia"/>
              </a:rPr>
              <a:t>MOSAIC</a:t>
            </a:r>
          </a:p>
          <a:p>
            <a:pPr algn="l">
              <a:spcAft>
                <a:spcPts val="1400"/>
              </a:spcAft>
            </a:pPr>
            <a:r>
              <a:rPr sz="2600" b="0" i="0">
                <a:solidFill>
                  <a:srgbClr val="D6EEF2"/>
                </a:solidFill>
                <a:latin typeface="Georgia"/>
              </a:rPr>
              <a:t>Catalog Gap Analysis — MFL Living Landscapes</a:t>
            </a:r>
          </a:p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C9D8DE"/>
                </a:solidFill>
                <a:latin typeface="Calibri"/>
              </a:rPr>
              <a:t>State of the dataset registry and gaps against the Minimum Spatial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AoW2 — Landscape Optimization &amp; Inclusive Planning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AFC6CE"/>
                </a:solidFill>
                <a:latin typeface="Calibri"/>
              </a:rPr>
              <a:t>Internal coordination briefing · Geospatial CoP  |  Prepared by Lizeth Llanos · 21 July 2026</a:t>
            </a:r>
          </a:p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C97D1B"/>
                </a:solidFill>
                <a:latin typeface="Calibri"/>
              </a:rPr>
              <a:t>Source: MFL_Dataset_Registry 21jul.xlsx  ·  68 datasets  ·  11 Living Landscapes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C97D1B"/>
                </a:solidFill>
                <a:latin typeface="Calibri"/>
              </a:rPr>
              <a:t>KEY FIGURES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C2B3A"/>
                </a:solidFill>
                <a:latin typeface="Georgia"/>
              </a:rPr>
              <a:t>Snapshot of the registry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3520440" cy="18288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84832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 i="0">
                <a:solidFill>
                  <a:srgbClr val="0D5C6B"/>
                </a:solidFill>
                <a:latin typeface="Georgia"/>
              </a:rPr>
              <a:t>68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C2B3A"/>
                </a:solidFill>
                <a:latin typeface="Calibri"/>
              </a:rPr>
              <a:t>datasets registered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416552" y="1828800"/>
            <a:ext cx="3520440" cy="18288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90872" y="2084832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 i="0">
                <a:solidFill>
                  <a:srgbClr val="0D5C6B"/>
                </a:solidFill>
                <a:latin typeface="Georgia"/>
              </a:rPr>
              <a:t>11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C2B3A"/>
                </a:solidFill>
                <a:latin typeface="Calibri"/>
              </a:rPr>
              <a:t>Living Landscapes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193023" y="1828800"/>
            <a:ext cx="3520440" cy="18288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67344" y="2084832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 i="0">
                <a:solidFill>
                  <a:srgbClr val="B54D2F"/>
                </a:solidFill>
                <a:latin typeface="Georgia"/>
              </a:rPr>
              <a:t>4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C2B3A"/>
                </a:solidFill>
                <a:latin typeface="Calibri"/>
              </a:rPr>
              <a:t>landscapes with ZERO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977639"/>
            <a:ext cx="3520440" cy="18288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233672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 i="0">
                <a:solidFill>
                  <a:srgbClr val="1E7A5A"/>
                </a:solidFill>
                <a:latin typeface="Georgia"/>
              </a:rPr>
              <a:t>1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C2B3A"/>
                </a:solidFill>
                <a:latin typeface="Calibri"/>
              </a:rPr>
              <a:t>landscape complete on all 5 core themes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6552" y="3977639"/>
            <a:ext cx="3520440" cy="18288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90872" y="4233672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 i="0">
                <a:solidFill>
                  <a:srgbClr val="C97D1B"/>
                </a:solidFill>
                <a:latin typeface="Georgia"/>
              </a:rPr>
              <a:t>2.6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C2B3A"/>
                </a:solidFill>
                <a:latin typeface="Calibri"/>
              </a:rPr>
              <a:t>core themes covered on avg (of 5)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3023" y="3977639"/>
            <a:ext cx="3520440" cy="18288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67344" y="4233672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 i="0">
                <a:solidFill>
                  <a:srgbClr val="0D5C6B"/>
                </a:solidFill>
                <a:latin typeface="Georgia"/>
              </a:rPr>
              <a:t>11/11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C2B3A"/>
                </a:solidFill>
                <a:latin typeface="Calibri"/>
              </a:rPr>
              <a:t>boundaries delineated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B6B77"/>
                </a:solidFill>
                <a:latin typeface="Calibri"/>
              </a:rPr>
              <a:t>MOSAIC · MFL Science Programme (AoW2) — Catalog Gap Analysis · July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B6B77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C97D1B"/>
                </a:solidFill>
                <a:latin typeface="Calibri"/>
              </a:rPr>
              <a:t>THE CENTRAL FINDING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C2B3A"/>
                </a:solidFill>
                <a:latin typeface="Georgia"/>
              </a:rPr>
              <a:t>Core coverage matrix</a:t>
            </a:r>
          </a:p>
        </p:txBody>
      </p:sp>
      <p:pic>
        <p:nvPicPr>
          <p:cNvPr id="4" name="Picture 3" descr="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7356936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737360"/>
            <a:ext cx="3474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D5C6B"/>
                </a:solidFill>
                <a:latin typeface="Georgia"/>
              </a:rPr>
              <a:t>Reading the matrix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0D5C6B"/>
                </a:solidFill>
                <a:latin typeface="Calibri"/>
              </a:rPr>
              <a:t>▪  </a:t>
            </a:r>
            <a:r>
              <a:rPr sz="1300" b="1">
                <a:solidFill>
                  <a:srgbClr val="1C2B3A"/>
                </a:solidFill>
                <a:latin typeface="Calibri"/>
              </a:rPr>
              <a:t>IND-CH is </a:t>
            </a:r>
            <a:r>
              <a:rPr sz="1300">
                <a:solidFill>
                  <a:srgbClr val="1C2B3A"/>
                </a:solidFill>
                <a:latin typeface="Calibri"/>
              </a:rPr>
              <a:t>the sole landscape complete on all 5 core themes (18 datasets).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0D5C6B"/>
                </a:solidFill>
                <a:latin typeface="Calibri"/>
              </a:rPr>
              <a:t>▪  </a:t>
            </a:r>
            <a:r>
              <a:rPr sz="1300" b="1">
                <a:solidFill>
                  <a:srgbClr val="1C2B3A"/>
                </a:solidFill>
                <a:latin typeface="Calibri"/>
              </a:rPr>
              <a:t>COL-CUM, KEN-LVB, KEN-LEI, PER-PCL — </a:t>
            </a:r>
            <a:r>
              <a:rPr sz="1300">
                <a:solidFill>
                  <a:srgbClr val="1C2B3A"/>
                </a:solidFill>
                <a:latin typeface="Calibri"/>
              </a:rPr>
              <a:t>four landscapes are entirely empty (dark cells on 0).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0D5C6B"/>
                </a:solidFill>
                <a:latin typeface="Calibri"/>
              </a:rPr>
              <a:t>▪  </a:t>
            </a:r>
            <a:r>
              <a:rPr sz="1300" b="1">
                <a:solidFill>
                  <a:srgbClr val="1C2B3A"/>
                </a:solidFill>
                <a:latin typeface="Calibri"/>
              </a:rPr>
              <a:t>Mid-tier: </a:t>
            </a:r>
            <a:r>
              <a:rPr sz="1300">
                <a:solidFill>
                  <a:srgbClr val="1C2B3A"/>
                </a:solidFill>
                <a:latin typeface="Calibri"/>
              </a:rPr>
              <a:t>ETH-OG and MEK-3S reach 4/5; SEN-FK and TUN-NW 3/5.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0D5C6B"/>
                </a:solidFill>
                <a:latin typeface="Calibri"/>
              </a:rPr>
              <a:t>▪  </a:t>
            </a:r>
            <a:r>
              <a:rPr sz="1300" b="1">
                <a:solidFill>
                  <a:srgbClr val="1C2B3A"/>
                </a:solidFill>
                <a:latin typeface="Calibri"/>
              </a:rPr>
              <a:t>Biodiversity </a:t>
            </a:r>
            <a:r>
              <a:rPr sz="1300">
                <a:solidFill>
                  <a:srgbClr val="1C2B3A"/>
                </a:solidFill>
                <a:latin typeface="Calibri"/>
              </a:rPr>
              <a:t>is the single weakest column across the programme.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B6B77"/>
                </a:solidFill>
                <a:latin typeface="Calibri"/>
              </a:rPr>
              <a:t>MOSAIC · MFL Science Programme (AoW2) — Catalog Gap Analysis ·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B6B77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C97D1B"/>
                </a:solidFill>
                <a:latin typeface="Calibri"/>
              </a:rPr>
              <a:t>CORE THEMES PRESENT,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C2B3A"/>
                </a:solidFill>
                <a:latin typeface="Georgia"/>
              </a:rPr>
              <a:t>Landscape readiness</a:t>
            </a:r>
          </a:p>
        </p:txBody>
      </p:sp>
      <p:pic>
        <p:nvPicPr>
          <p:cNvPr id="4" name="Picture 3" descr="readi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7040880" cy="39562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783080"/>
            <a:ext cx="3931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D5C6B"/>
                </a:solidFill>
                <a:latin typeface="Georgia"/>
              </a:rPr>
              <a:t>Three tiers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E7A5A"/>
                </a:solidFill>
                <a:latin typeface="Calibri"/>
              </a:rPr>
              <a:t>Ready (3–5/5)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C2B3A"/>
                </a:solidFill>
                <a:latin typeface="Calibri"/>
              </a:rPr>
              <a:t>IND-CH, ETH-OG, MEK-3S, SEN-FK, TUN-NW — deepen quality &amp; metadata.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C97D1B"/>
                </a:solidFill>
                <a:latin typeface="Calibri"/>
              </a:rPr>
              <a:t>Partial / high priority (1–2/5)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C2B3A"/>
                </a:solidFill>
                <a:latin typeface="Calibri"/>
              </a:rPr>
              <a:t>ZWE-MB, CIV-NZ — targeted theme filling.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B54D2F"/>
                </a:solidFill>
                <a:latin typeface="Calibri"/>
              </a:rPr>
              <a:t>Critical (0/5)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C2B3A"/>
                </a:solidFill>
                <a:latin typeface="Calibri"/>
              </a:rPr>
              <a:t>COL-CUM, KEN-LVB, KEN-LEI, PER-PCL — no data despite delineated boundaries.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B6B77"/>
                </a:solidFill>
                <a:latin typeface="Calibri"/>
              </a:rPr>
              <a:t>MOSAIC · MFL Science Programme (AoW2) — Catalog Gap Analysis ·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B6B77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C97D1B"/>
                </a:solidFill>
                <a:latin typeface="Calibri"/>
              </a:rPr>
              <a:t>ZERO DATASETS REGISTERED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C2B3A"/>
                </a:solidFill>
                <a:latin typeface="Georgia"/>
              </a:rPr>
              <a:t>Critical gaps: the four empty landscapes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2651760" cy="1737360"/>
          </a:xfrm>
          <a:prstGeom prst="rect">
            <a:avLst/>
          </a:prstGeom>
          <a:solidFill>
            <a:srgbClr val="B54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7" y="2057400"/>
            <a:ext cx="224942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Georgia"/>
              </a:rPr>
              <a:t>COL-CUM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D6EEF2"/>
                </a:solidFill>
                <a:latin typeface="Calibri"/>
              </a:rPr>
              <a:t>Cumbal (Nariño), Colombia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0 / 5 core themes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502152" y="1828800"/>
            <a:ext cx="2651760" cy="1737360"/>
          </a:xfrm>
          <a:prstGeom prst="rect">
            <a:avLst/>
          </a:prstGeom>
          <a:solidFill>
            <a:srgbClr val="B54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03320" y="2057400"/>
            <a:ext cx="224942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Georgia"/>
              </a:rPr>
              <a:t>KEN-LVB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D6EEF2"/>
                </a:solidFill>
                <a:latin typeface="Calibri"/>
              </a:rPr>
              <a:t>Lake Victoria Basin, Kenya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0 / 5 core themes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64224" y="1828800"/>
            <a:ext cx="2651760" cy="1737360"/>
          </a:xfrm>
          <a:prstGeom prst="rect">
            <a:avLst/>
          </a:prstGeom>
          <a:solidFill>
            <a:srgbClr val="B54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65392" y="2057400"/>
            <a:ext cx="224942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Georgia"/>
              </a:rPr>
              <a:t>KEN-LEI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D6EEF2"/>
                </a:solidFill>
                <a:latin typeface="Calibri"/>
              </a:rPr>
              <a:t>LEILA – S. Kenya Rangelands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0 / 5 core themes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6296" y="1828800"/>
            <a:ext cx="2651760" cy="1737360"/>
          </a:xfrm>
          <a:prstGeom prst="rect">
            <a:avLst/>
          </a:prstGeom>
          <a:solidFill>
            <a:srgbClr val="B54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27464" y="2057400"/>
            <a:ext cx="224942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Georgia"/>
              </a:rPr>
              <a:t>PER-PCL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D6EEF2"/>
                </a:solidFill>
                <a:latin typeface="Calibri"/>
              </a:rPr>
              <a:t>Pucallpa – Ucayali, Peru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0 / 5 core themes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0D5C6B"/>
                </a:solidFill>
                <a:latin typeface="Calibri"/>
              </a:rPr>
              <a:t>▪  </a:t>
            </a:r>
            <a:r>
              <a:rPr sz="1500" b="1">
                <a:solidFill>
                  <a:srgbClr val="1C2B3A"/>
                </a:solidFill>
                <a:latin typeface="Calibri"/>
              </a:rPr>
              <a:t>Boundary ready — </a:t>
            </a:r>
            <a:r>
              <a:rPr sz="1500">
                <a:solidFill>
                  <a:srgbClr val="1C2B3A"/>
                </a:solidFill>
                <a:latin typeface="Calibri"/>
              </a:rPr>
              <a:t>delineation boundaries exist for all four (boundaries/&lt;CODE&gt;.geojson) — the frame is ready, the content is missing.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0D5C6B"/>
                </a:solidFill>
                <a:latin typeface="Calibri"/>
              </a:rPr>
              <a:t>▪  </a:t>
            </a:r>
            <a:r>
              <a:rPr sz="1500" b="1">
                <a:solidFill>
                  <a:srgbClr val="1C2B3A"/>
                </a:solidFill>
                <a:latin typeface="Calibri"/>
              </a:rPr>
              <a:t>Peru caveat — </a:t>
            </a:r>
            <a:r>
              <a:rPr sz="1500">
                <a:solidFill>
                  <a:srgbClr val="1C2B3A"/>
                </a:solidFill>
                <a:latin typeface="Calibri"/>
              </a:rPr>
              <a:t>PER-PCL is still pending confirmation with the Peru team (Apurímac vs Pucallpa/Ucayali) — resolve before requesting data.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0D5C6B"/>
                </a:solidFill>
                <a:latin typeface="Calibri"/>
              </a:rPr>
              <a:t>▪  </a:t>
            </a:r>
            <a:r>
              <a:rPr sz="1500" b="1">
                <a:solidFill>
                  <a:srgbClr val="1C2B3A"/>
                </a:solidFill>
                <a:latin typeface="Calibri"/>
              </a:rPr>
              <a:t>Action — </a:t>
            </a:r>
            <a:r>
              <a:rPr sz="1500">
                <a:solidFill>
                  <a:srgbClr val="1C2B3A"/>
                </a:solidFill>
                <a:latin typeface="Calibri"/>
              </a:rPr>
              <a:t>these four should anchor the 2026 contribution requests to the relevant centre focal points (CIP, Alliance, ILRI).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B6B77"/>
                </a:solidFill>
                <a:latin typeface="Calibri"/>
              </a:rPr>
              <a:t>MOSAIC · MFL Science Programme (AoW2) — Catalog Gap Analysis · July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B6B77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C97D1B"/>
                </a:solidFill>
                <a:latin typeface="Calibri"/>
              </a:rPr>
              <a:t>WHICH LAYERS ARE THIN PROGRAMME-WIDE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C2B3A"/>
                </a:solidFill>
                <a:latin typeface="Georgia"/>
              </a:rPr>
              <a:t>Coverage by theme</a:t>
            </a:r>
          </a:p>
        </p:txBody>
      </p:sp>
      <p:pic>
        <p:nvPicPr>
          <p:cNvPr id="4" name="Picture 3" descr="themeco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6949440" cy="35167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1783080"/>
            <a:ext cx="4023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D5C6B"/>
                </a:solidFill>
                <a:latin typeface="Georgia"/>
              </a:rPr>
              <a:t>Weakest core layers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0D5C6B"/>
                </a:solidFill>
                <a:latin typeface="Calibri"/>
              </a:rPr>
              <a:t>▪  </a:t>
            </a:r>
            <a:r>
              <a:rPr sz="1400" b="1">
                <a:solidFill>
                  <a:srgbClr val="1C2B3A"/>
                </a:solidFill>
                <a:latin typeface="Calibri"/>
              </a:rPr>
              <a:t>Biodiversity — </a:t>
            </a:r>
            <a:r>
              <a:rPr sz="1400">
                <a:solidFill>
                  <a:srgbClr val="1C2B3A"/>
                </a:solidFill>
                <a:latin typeface="Calibri"/>
              </a:rPr>
              <a:t>present in only 3 of 11 landscapes.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0D5C6B"/>
                </a:solidFill>
                <a:latin typeface="Calibri"/>
              </a:rPr>
              <a:t>▪  </a:t>
            </a:r>
            <a:r>
              <a:rPr sz="1400" b="1">
                <a:solidFill>
                  <a:srgbClr val="1C2B3A"/>
                </a:solidFill>
                <a:latin typeface="Calibri"/>
              </a:rPr>
              <a:t>Water &amp; Socio-economic — </a:t>
            </a:r>
            <a:r>
              <a:rPr sz="1400">
                <a:solidFill>
                  <a:srgbClr val="1C2B3A"/>
                </a:solidFill>
                <a:latin typeface="Calibri"/>
              </a:rPr>
              <a:t>each present in 4 of 11.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0D5C6B"/>
                </a:solidFill>
                <a:latin typeface="Calibri"/>
              </a:rPr>
              <a:t>▪  </a:t>
            </a:r>
            <a:r>
              <a:rPr sz="1400" b="1">
                <a:solidFill>
                  <a:srgbClr val="1C2B3A"/>
                </a:solidFill>
                <a:latin typeface="Calibri"/>
              </a:rPr>
              <a:t>Land cover / use — </a:t>
            </a:r>
            <a:r>
              <a:rPr sz="1400">
                <a:solidFill>
                  <a:srgbClr val="1C2B3A"/>
                </a:solidFill>
                <a:latin typeface="Calibri"/>
              </a:rPr>
              <a:t>the best-covered core layer, still only 6 of 11.</a:t>
            </a:r>
          </a:p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B6B77"/>
                </a:solidFill>
                <a:latin typeface="Calibri"/>
              </a:rPr>
              <a:t>Biodiversity, water and socio-economic layers are the programme-wide priority for 2026 sourcing.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B6B77"/>
                </a:solidFill>
                <a:latin typeface="Calibri"/>
              </a:rPr>
              <a:t>MOSAIC · MFL Science Programme (AoW2) — Catalog Gap Analysis ·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B6B77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C97D1B"/>
                </a:solidFill>
                <a:latin typeface="Calibri"/>
              </a:rPr>
              <a:t>DATASETS PER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C2B3A"/>
                </a:solidFill>
                <a:latin typeface="Georgia"/>
              </a:rPr>
              <a:t>Where the data concentrates</a:t>
            </a:r>
          </a:p>
        </p:txBody>
      </p:sp>
      <p:pic>
        <p:nvPicPr>
          <p:cNvPr id="4" name="Picture 3" descr="concen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132320" cy="37509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78308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D5C6B"/>
                </a:solidFill>
                <a:latin typeface="Georgia"/>
              </a:rPr>
              <a:t>Uneven contribution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0D5C6B"/>
                </a:solidFill>
                <a:latin typeface="Calibri"/>
              </a:rPr>
              <a:t>▪  </a:t>
            </a:r>
            <a:r>
              <a:rPr sz="1400" b="1">
                <a:solidFill>
                  <a:srgbClr val="1C2B3A"/>
                </a:solidFill>
                <a:latin typeface="Calibri"/>
              </a:rPr>
              <a:t>IND-CH </a:t>
            </a:r>
            <a:r>
              <a:rPr sz="1400">
                <a:solidFill>
                  <a:srgbClr val="1C2B3A"/>
                </a:solidFill>
                <a:latin typeface="Calibri"/>
              </a:rPr>
              <a:t>alone (18) — over a quarter of the whole registry.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0D5C6B"/>
                </a:solidFill>
                <a:latin typeface="Calibri"/>
              </a:rPr>
              <a:t>▪  </a:t>
            </a:r>
            <a:r>
              <a:rPr sz="1400" b="1">
                <a:solidFill>
                  <a:srgbClr val="1C2B3A"/>
                </a:solidFill>
                <a:latin typeface="Calibri"/>
              </a:rPr>
              <a:t>SEN-FK </a:t>
            </a:r>
            <a:r>
              <a:rPr sz="1400">
                <a:solidFill>
                  <a:srgbClr val="1C2B3A"/>
                </a:solidFill>
                <a:latin typeface="Calibri"/>
              </a:rPr>
              <a:t>and MEK-3S hold 8 each; the tail drops off sharply.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0D5C6B"/>
                </a:solidFill>
                <a:latin typeface="Calibri"/>
              </a:rPr>
              <a:t>▪  </a:t>
            </a:r>
            <a:r>
              <a:rPr sz="1400" b="1">
                <a:solidFill>
                  <a:srgbClr val="1C2B3A"/>
                </a:solidFill>
                <a:latin typeface="Calibri"/>
              </a:rPr>
              <a:t>Most datasets </a:t>
            </a:r>
            <a:r>
              <a:rPr sz="1400">
                <a:solidFill>
                  <a:srgbClr val="1C2B3A"/>
                </a:solidFill>
                <a:latin typeface="Calibri"/>
              </a:rPr>
              <a:t>come from external / national-government sources (15 of 68); IWMI and ISRA-BAME are the top CGIAR/partner contributors.</a:t>
            </a:r>
          </a:p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B6B77"/>
                </a:solidFill>
                <a:latin typeface="Calibri"/>
              </a:rPr>
              <a:t>Coverage reflects who has contributed, not landscape importance — a coordination gap, not only a data gap.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B6B77"/>
                </a:solidFill>
                <a:latin typeface="Calibri"/>
              </a:rPr>
              <a:t>MOSAIC · MFL Science Programme (AoW2) — Catalog Gap Analysis ·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B6B77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C97D1B"/>
                </a:solidFill>
                <a:latin typeface="Calibri"/>
              </a:rPr>
              <a:t>DATASETS BY CENTRE / 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C2B3A"/>
                </a:solidFill>
                <a:latin typeface="Georgia"/>
              </a:rPr>
              <a:t>Who is contributing</a:t>
            </a:r>
          </a:p>
        </p:txBody>
      </p:sp>
      <p:pic>
        <p:nvPicPr>
          <p:cNvPr id="4" name="Picture 3" descr="cent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54480"/>
            <a:ext cx="7168092" cy="4709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691640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D5C6B"/>
                </a:solidFill>
                <a:latin typeface="Georgia"/>
              </a:rPr>
              <a:t>57%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C2B3A"/>
                </a:solidFill>
                <a:latin typeface="Calibri"/>
              </a:rPr>
              <a:t>from CGIAR centres (39 of 68)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2606040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C97D1B"/>
                </a:solidFill>
                <a:latin typeface="Georgia"/>
              </a:rPr>
              <a:t>8 / 11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C2B3A"/>
                </a:solidFill>
                <a:latin typeface="Calibri"/>
              </a:rPr>
              <a:t>CoP centres have contributed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3611880"/>
            <a:ext cx="3977639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D5C6B"/>
                </a:solidFill>
                <a:latin typeface="Georgia"/>
              </a:rPr>
              <a:t>What it shows</a:t>
            </a:r>
          </a:p>
          <a:p>
            <a:pPr algn="l">
              <a:spcAft>
                <a:spcPts val="800"/>
              </a:spcAft>
            </a:pPr>
            <a:r>
              <a:rPr sz="1250" b="1">
                <a:solidFill>
                  <a:srgbClr val="0D5C6B"/>
                </a:solidFill>
                <a:latin typeface="Calibri"/>
              </a:rPr>
              <a:t>▪  </a:t>
            </a:r>
            <a:r>
              <a:rPr sz="1250" b="1">
                <a:solidFill>
                  <a:srgbClr val="1C2B3A"/>
                </a:solidFill>
                <a:latin typeface="Calibri"/>
              </a:rPr>
              <a:t>3 CoP centres </a:t>
            </a:r>
            <a:r>
              <a:rPr sz="1250">
                <a:solidFill>
                  <a:srgbClr val="1C2B3A"/>
                </a:solidFill>
                <a:latin typeface="Calibri"/>
              </a:rPr>
              <a:t>(ICRISAT, IITA, ILRI) have registered nothing yet.</a:t>
            </a:r>
          </a:p>
          <a:p>
            <a:pPr algn="l">
              <a:spcAft>
                <a:spcPts val="800"/>
              </a:spcAft>
            </a:pPr>
            <a:r>
              <a:rPr sz="1250" b="1">
                <a:solidFill>
                  <a:srgbClr val="0D5C6B"/>
                </a:solidFill>
                <a:latin typeface="Calibri"/>
              </a:rPr>
              <a:t>▪  </a:t>
            </a:r>
            <a:r>
              <a:rPr sz="1250" b="1">
                <a:solidFill>
                  <a:srgbClr val="1C2B3A"/>
                </a:solidFill>
                <a:latin typeface="Calibri"/>
              </a:rPr>
              <a:t>Siloed — </a:t>
            </a:r>
            <a:r>
              <a:rPr sz="1250">
                <a:solidFill>
                  <a:srgbClr val="1C2B3A"/>
                </a:solidFill>
                <a:latin typeface="Calibri"/>
              </a:rPr>
              <a:t>most centres feed a single landscape (ICARDA→TUN-NW, CIMMYT→ZWE-MB, WorldFish→MEK-3S); IWMI is the only broad contributor (4).</a:t>
            </a:r>
          </a:p>
          <a:p>
            <a:pPr algn="l">
              <a:spcAft>
                <a:spcPts val="800"/>
              </a:spcAft>
            </a:pPr>
            <a:r>
              <a:rPr sz="1250" b="1">
                <a:solidFill>
                  <a:srgbClr val="0D5C6B"/>
                </a:solidFill>
                <a:latin typeface="Calibri"/>
              </a:rPr>
              <a:t>▪  </a:t>
            </a:r>
            <a:r>
              <a:rPr sz="1250" b="1">
                <a:solidFill>
                  <a:srgbClr val="1C2B3A"/>
                </a:solidFill>
                <a:latin typeface="Calibri"/>
              </a:rPr>
              <a:t>External-heavy — </a:t>
            </a:r>
            <a:r>
              <a:rPr sz="1250">
                <a:solidFill>
                  <a:srgbClr val="1C2B3A"/>
                </a:solidFill>
                <a:latin typeface="Calibri"/>
              </a:rPr>
              <a:t>external / national-government and unattributed sources make up 31% (21 of 68).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B6B77"/>
                </a:solidFill>
                <a:latin typeface="Calibri"/>
              </a:rPr>
              <a:t>MOSAIC · MFL Science Programme (AoW2) — Catalog Gap Analysis ·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B6B77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C97D1B"/>
                </a:solidFill>
                <a:latin typeface="Calibri"/>
              </a:rPr>
              <a:t>WHAT TO DO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C2B3A"/>
                </a:solidFill>
                <a:latin typeface="Georgia"/>
              </a:rPr>
              <a:t>Prioritized actions for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822960" cy="822960"/>
          </a:xfrm>
          <a:prstGeom prst="rect">
            <a:avLst/>
          </a:prstGeom>
          <a:solidFill>
            <a:srgbClr val="B54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883664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554480" y="1737360"/>
            <a:ext cx="10058400" cy="82296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783080" y="1828800"/>
            <a:ext cx="96926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D5C6B"/>
                </a:solidFill>
                <a:latin typeface="Calibri"/>
              </a:rPr>
              <a:t>Fill the four empty landscapes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C2B3A"/>
                </a:solidFill>
                <a:latin typeface="Calibri"/>
              </a:rPr>
              <a:t>Request the minimum package for COL-CUM, KEN-LVB, KEN-LEI, PER-PCL from CIP, Alliance and ILRI focal points. Confirm PER-PCL scope with the Peru team first.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70048"/>
            <a:ext cx="822960" cy="822960"/>
          </a:xfrm>
          <a:prstGeom prst="rect">
            <a:avLst/>
          </a:prstGeom>
          <a:solidFill>
            <a:srgbClr val="C97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816352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0" y="2670048"/>
            <a:ext cx="10058400" cy="82296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83080" y="2761488"/>
            <a:ext cx="96926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D5C6B"/>
                </a:solidFill>
                <a:latin typeface="Calibri"/>
              </a:rPr>
              <a:t>Target the thin core themes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C2B3A"/>
                </a:solidFill>
                <a:latin typeface="Calibri"/>
              </a:rPr>
              <a:t>Prioritize Biodiversity, Water and Socio-economic layers across all landscapes — the weakest columns programme-wide.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602736"/>
            <a:ext cx="822960" cy="822960"/>
          </a:xfrm>
          <a:prstGeom prst="rect">
            <a:avLst/>
          </a:prstGeom>
          <a:solidFill>
            <a:srgbClr val="0D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749039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3602736"/>
            <a:ext cx="10058400" cy="82296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83080" y="3694176"/>
            <a:ext cx="96926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D5C6B"/>
                </a:solidFill>
                <a:latin typeface="Calibri"/>
              </a:rPr>
              <a:t>Start the migration workflow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C2B3A"/>
                </a:solidFill>
                <a:latin typeface="Calibri"/>
              </a:rPr>
              <a:t>Populate file name, migration status and server path; adopt the naming convention. These fields are 100% empty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535424"/>
            <a:ext cx="822960" cy="822960"/>
          </a:xfrm>
          <a:prstGeom prst="rect">
            <a:avLst/>
          </a:prstGeom>
          <a:solidFill>
            <a:srgbClr val="0D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681728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54480" y="4535424"/>
            <a:ext cx="10058400" cy="82296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783080" y="4626864"/>
            <a:ext cx="96926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D5C6B"/>
                </a:solidFill>
                <a:latin typeface="Calibri"/>
              </a:rPr>
              <a:t>Clean the 8 suspect records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C2B3A"/>
                </a:solidFill>
                <a:latin typeface="Calibri"/>
              </a:rPr>
              <a:t>Fix the "Soil dataset" rows, missing themes/landscape and None access levels so the crosswalk and STAC build resolve cleanly.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468112"/>
            <a:ext cx="822960" cy="822960"/>
          </a:xfrm>
          <a:prstGeom prst="rect">
            <a:avLst/>
          </a:prstGeom>
          <a:solidFill>
            <a:srgbClr val="1E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5614416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" y="5468112"/>
            <a:ext cx="10058400" cy="82296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783080" y="5559552"/>
            <a:ext cx="96926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D5C6B"/>
                </a:solidFill>
                <a:latin typeface="Calibri"/>
              </a:rPr>
              <a:t>Balance contribution across centres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C2B3A"/>
                </a:solidFill>
                <a:latin typeface="Calibri"/>
              </a:rPr>
              <a:t>Coverage tracks who contributed, not landscape need. Use the CoP focal points to close the coordination gap.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B6B77"/>
                </a:solidFill>
                <a:latin typeface="Calibri"/>
              </a:rPr>
              <a:t>MOSAIC · MFL Science Programme (AoW2) — Catalog Gap Analysis · July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B6B77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3400" b="1" i="0">
                <a:solidFill>
                  <a:srgbClr val="FFFFFF"/>
                </a:solidFill>
                <a:latin typeface="Georgia"/>
              </a:rPr>
              <a:t>From inventory to action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D6EEF2"/>
                </a:solidFill>
                <a:latin typeface="Calibri"/>
              </a:rPr>
              <a:t>The registry gives MOSAIC its first coverage baseline: 11 landscapes framed, 1 complete, 4 empty, and a clear set of thin themes to fill in 2026.</a:t>
            </a:r>
          </a:p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C9D8DE"/>
                </a:solidFill>
                <a:latin typeface="Calibri"/>
              </a:rPr>
              <a:t>Next: circulate contribution requests to CoP focal points and start the migration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212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AFC6CE"/>
                </a:solidFill>
                <a:latin typeface="Calibri"/>
              </a:rPr>
              <a:t>Lizeth Llanos · l.llanos@cgiar.org  |  CGIAR MFL Science Programme — AoW2 · MOSAIC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951</Words>
  <Application>Microsoft Macintosh PowerPoint</Application>
  <PresentationFormat>Widescreen</PresentationFormat>
  <Paragraphs>114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Llanos Herrera, Lizeth (Alliance Bioversity-CIAT)</cp:lastModifiedBy>
  <cp:revision>1</cp:revision>
  <dcterms:created xsi:type="dcterms:W3CDTF">2013-01-27T09:14:16Z</dcterms:created>
  <dcterms:modified xsi:type="dcterms:W3CDTF">2026-07-21T14:50:47Z</dcterms:modified>
  <cp:category/>
</cp:coreProperties>
</file>